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introduce scope and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importance of data structures in computer science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benefits of using data structures in software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 on the key characteristics of each data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Arrays support various operations, but each operation has its own time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time complexity of array operations depends on the position of the element and the algorithm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Vectors provide a more efficient way to implement dynamic arrays than traditional arrays.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Linked list operations are fundamental to understanding data 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 complexity varies depending on the operation and location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Implementation details are crucial for understanding linked lists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Understanding the basic operations of a stack is crucial for implementing various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Knowledge of queue operations is essential for understanding various data structures and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Understanding the time and space complexity of stack and queue operations is vital for optimizing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Trees are a fundamental data structure in computer science, used in various applications such as database indexing and file system organization.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B-trees are commonly used in databases and file systems to improve query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code demonstrates the basic structure and operations of a B-tree.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importance of understanding the trade-offs between different sorting algorithms.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significance of time complexity in choosing a sorting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implications of space complexity on memory usage and scalability.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importance of searching algorithms in real-world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trade-off between simplicity and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advantages of Binary Search over Linear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actionable next steps and Q&amp;A transition.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Structure and Algorithm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Knowledge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Structure and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Presentation roadmap with 7 core sections</a:t>
            </a:r>
          </a:p>
          <a:p>
            <a:pPr>
              <a:defRPr sz="2200"/>
            </a:pPr>
            <a:r>
              <a:t>Progressive coverage from fundamentals to practical understanding</a:t>
            </a:r>
          </a:p>
          <a:p>
            <a:pPr>
              <a:defRPr sz="2200"/>
            </a:pPr>
            <a:r>
              <a:t>Focus on concepts, trade-offs, and real-world applicability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Data Structures?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data structure is a way to organize and store data in a computer so that it can be efficiently accessed and modified.</a:t>
            </a:r>
          </a:p>
          <a:p>
            <a:pPr>
              <a:defRPr sz="2200"/>
            </a:pPr>
            <a:r>
              <a:t>Data structures are the building blocks of algorithms and are used to solve problems in various fields such as computer science, engineering, and economics.</a:t>
            </a:r>
          </a:p>
          <a:p>
            <a:pPr>
              <a:defRPr sz="2200"/>
            </a:pPr>
            <a:r>
              <a:t>Examples of data structures include arrays, linked lists, stacks, queues, trees, and graphs.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Efficient use of memory and storage</a:t>
            </a:r>
          </a:p>
          <a:p>
            <a:pPr>
              <a:defRPr sz="2200"/>
            </a:pPr>
            <a:r>
              <a:t>Fast data retrieval and manipulation</a:t>
            </a:r>
          </a:p>
          <a:p>
            <a:pPr>
              <a:defRPr sz="2200"/>
            </a:pPr>
            <a:r>
              <a:t>Improved algorithm performance</a:t>
            </a:r>
          </a:p>
          <a:p>
            <a:pPr>
              <a:defRPr sz="2200"/>
            </a:pPr>
            <a:r>
              <a:t>Better scalability and maintainability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Arrays: store a collection of elements of the same data type</a:t>
            </a:r>
          </a:p>
          <a:p>
            <a:pPr>
              <a:defRPr sz="2200"/>
            </a:pPr>
            <a:r>
              <a:t>Linked Lists: store a sequence of elements, each with a reference to the next element</a:t>
            </a:r>
          </a:p>
          <a:p>
            <a:pPr>
              <a:defRPr sz="2200"/>
            </a:pPr>
            <a:r>
              <a:t>Stacks: follow the LIFO (Last In, First Out) principle</a:t>
            </a:r>
          </a:p>
          <a:p>
            <a:pPr>
              <a:defRPr sz="2200"/>
            </a:pPr>
            <a:r>
              <a:t>Queues: follow the FIFO (First In, First Out) principle</a:t>
            </a:r>
          </a:p>
          <a:p>
            <a:pPr>
              <a:defRPr sz="2200"/>
            </a:pPr>
            <a:r>
              <a:t>Trees: a hierarchical data structure with nodes and edges</a:t>
            </a:r>
          </a:p>
          <a:p>
            <a:pPr>
              <a:defRPr sz="2200"/>
            </a:pPr>
            <a:r>
              <a:t>Graphs: a non-linear data structure consisting of nodes and edges</a:t>
            </a:r>
          </a:p>
          <a:p>
            <a:pPr>
              <a:defRPr sz="1600" b="1"/>
            </a:pPr>
            <a:r>
              <a:t>Code (python)</a:t>
            </a:r>
          </a:p>
          <a:p>
            <a:pPr lvl="1">
              <a:defRPr sz="1200">
                <a:latin typeface="Courier New"/>
              </a:defRPr>
            </a:pPr>
            <a:r>
              <a:t>import array</a:t>
            </a:r>
          </a:p>
          <a:p>
            <a:pPr lvl="1">
              <a:defRPr sz="1200">
                <a:latin typeface="Courier New"/>
              </a:defRPr>
            </a:pPr>
          </a:p>
          <a:p>
            <a:pPr lvl="1">
              <a:defRPr sz="1200">
                <a:latin typeface="Courier New"/>
              </a:defRPr>
            </a:pPr>
            <a:r>
              <a:t>def create_array():</a:t>
            </a:r>
          </a:p>
          <a:p>
            <a:pPr lvl="1">
              <a:defRPr sz="1200">
                <a:latin typeface="Courier New"/>
              </a:defRPr>
            </a:pPr>
            <a:r>
              <a:t>    arr = array.array('i', [1, 2, 3, 4, 5])</a:t>
            </a:r>
          </a:p>
          <a:p>
            <a:pPr lvl="1">
              <a:defRPr sz="1200">
                <a:latin typeface="Courier New"/>
              </a:defRPr>
            </a:pPr>
            <a:r>
              <a:t>    return arr</a:t>
            </a:r>
          </a:p>
          <a:p>
            <a:pPr lvl="1">
              <a:defRPr sz="1200">
                <a:latin typeface="Courier New"/>
              </a:defRPr>
            </a:pPr>
          </a:p>
          <a:p>
            <a:pPr lvl="1">
              <a:defRPr sz="1200">
                <a:latin typeface="Courier New"/>
              </a:defRPr>
            </a:pPr>
            <a:r>
              <a:t>def print_array(arr):</a:t>
            </a:r>
          </a:p>
          <a:p>
            <a:pPr lvl="1">
              <a:defRPr sz="1200">
                <a:latin typeface="Courier New"/>
              </a:defRPr>
            </a:pPr>
            <a:r>
              <a:t>    for i in arr:</a:t>
            </a:r>
          </a:p>
          <a:p>
            <a:pPr lvl="1">
              <a:defRPr sz="1200">
                <a:latin typeface="Courier New"/>
              </a:defRPr>
            </a:pPr>
            <a:r>
              <a:t>        print(i)</a:t>
            </a:r>
          </a:p>
          <a:p>
            <a:pPr lvl="1">
              <a:defRPr sz="1200">
                <a:latin typeface="Courier New"/>
              </a:defRPr>
            </a:pPr>
          </a:p>
          <a:p>
            <a:pPr lvl="1">
              <a:defRPr sz="1200">
                <a:latin typeface="Courier New"/>
              </a:defRPr>
            </a:pPr>
            <a:r>
              <a:t>arr = create_array()</a:t>
            </a:r>
          </a:p>
          <a:p>
            <a:pPr lvl="1">
              <a:defRPr sz="1200">
                <a:latin typeface="Courier New"/>
              </a:defRPr>
            </a:pPr>
            <a:r>
              <a:t>print_array(arr)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Array Operations: Insert, Delete,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Insertion: Adding an element at a specific position or at the end of the array</a:t>
            </a:r>
          </a:p>
          <a:p>
            <a:pPr>
              <a:defRPr sz="2200"/>
            </a:pPr>
            <a:r>
              <a:t>Deletion: Removing an element at a specific position or from the end of the array</a:t>
            </a:r>
          </a:p>
          <a:p>
            <a:pPr>
              <a:defRPr sz="2200"/>
            </a:pPr>
            <a:r>
              <a:t>Search: Locating an element by its value or index in the array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Complexity of Array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Insertion: O(n) when inserting at a specific position, O(1) when inserting at the end</a:t>
            </a:r>
          </a:p>
          <a:p>
            <a:pPr>
              <a:defRPr sz="2200"/>
            </a:pPr>
            <a:r>
              <a:t>Deletion: O(n) when deleting at a specific position, O(1) when deleting from the end</a:t>
            </a:r>
          </a:p>
          <a:p>
            <a:pPr>
              <a:defRPr sz="2200"/>
            </a:pPr>
            <a:r>
              <a:t>Search: O(n) in the worst case, but can be O(1) with a hash table or binary search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Implementation: Dynamic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vector is a dynamic array that can resize itself when elements are added or removed</a:t>
            </a:r>
          </a:p>
          <a:p>
            <a:pPr>
              <a:defRPr sz="2200"/>
            </a:pPr>
            <a:r>
              <a:t>Vectors use a combination of arrays and linked lists to achieve efficient insertion and deletion</a:t>
            </a:r>
          </a:p>
          <a:p>
            <a:pPr>
              <a:defRPr sz="2200"/>
            </a:pPr>
            <a:r>
              <a:t>Vectors are commonly used in programming languages to implement data structures like lists and stacks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Linked List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Insertion: Adding a new node at the beginning or end of the list</a:t>
            </a:r>
          </a:p>
          <a:p>
            <a:pPr>
              <a:defRPr sz="2200"/>
            </a:pPr>
            <a:r>
              <a:t>Deletion: Removing a node with a specific value or at a specific position</a:t>
            </a:r>
          </a:p>
          <a:p>
            <a:pPr>
              <a:defRPr sz="2200"/>
            </a:pPr>
            <a:r>
              <a:t>Search: Finding a node with a specific value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and Space Complexity of Linked List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Insertion: O(1) for appending, O(n) for inserting at the beginning</a:t>
            </a:r>
          </a:p>
          <a:p>
            <a:pPr>
              <a:defRPr sz="2200"/>
            </a:pPr>
            <a:r>
              <a:t>Deletion: O(1) for deleting the last node, O(n) for deleting a node in the middle</a:t>
            </a:r>
          </a:p>
          <a:p>
            <a:pPr>
              <a:defRPr sz="2200"/>
            </a:pPr>
            <a:r>
              <a:t>Search: O(n) in the worst case, O(1) if using a hash table for node storage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Linked List Implementation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Node class: Represents a single node in the list</a:t>
            </a:r>
          </a:p>
          <a:p>
            <a:pPr>
              <a:defRPr sz="2200"/>
            </a:pPr>
            <a:r>
              <a:t>LinkedList class: Manages the list and provides operations</a:t>
            </a:r>
          </a:p>
          <a:p>
            <a:pPr>
              <a:defRPr sz="2200"/>
            </a:pPr>
            <a:r>
              <a:t>Example usage: Creating a linked list and performing operations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Push: add an element to the top of the stack</a:t>
            </a:r>
          </a:p>
          <a:p>
            <a:pPr>
              <a:defRPr sz="2200"/>
            </a:pPr>
            <a:r>
              <a:t>Pop: remove an element from the top of the stack</a:t>
            </a:r>
          </a:p>
          <a:p>
            <a:pPr>
              <a:defRPr sz="2200"/>
            </a:pPr>
            <a:r>
              <a:t>Peek: view the top element of the stack without removing it</a:t>
            </a:r>
          </a:p>
          <a:p>
            <a:pPr>
              <a:defRPr sz="2200"/>
            </a:pPr>
            <a:r>
              <a:t>IsEmpty: check if the stack is empty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Queue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Enqueue: add an element to the end of the queue</a:t>
            </a:r>
          </a:p>
          <a:p>
            <a:pPr>
              <a:defRPr sz="2200"/>
            </a:pPr>
            <a:r>
              <a:t>Dequeue: remove an element from the front of the queue</a:t>
            </a:r>
          </a:p>
          <a:p>
            <a:pPr>
              <a:defRPr sz="2200"/>
            </a:pPr>
            <a:r>
              <a:t>Peek: view the front element of the queue without removing it</a:t>
            </a:r>
          </a:p>
          <a:p>
            <a:pPr>
              <a:defRPr sz="2200"/>
            </a:pPr>
            <a:r>
              <a:t>IsEmpty: check if the queue is empty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and Space Complexity of Stack and Queue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Push: O(1) time, O(n) space (for dynamic arrays)</a:t>
            </a:r>
          </a:p>
          <a:p>
            <a:pPr>
              <a:defRPr sz="2200"/>
            </a:pPr>
            <a:r>
              <a:t>Pop: O(1) time, O(n) space (for dynamic arrays)</a:t>
            </a:r>
          </a:p>
          <a:p>
            <a:pPr>
              <a:defRPr sz="2200"/>
            </a:pPr>
            <a:r>
              <a:t>Peek: O(1) time, O(n) space (for dynamic arrays)</a:t>
            </a:r>
          </a:p>
          <a:p>
            <a:pPr>
              <a:defRPr sz="2200"/>
            </a:pPr>
            <a:r>
              <a:t>Enqueue: O(1) time, O(n) space (for dynamic arrays)</a:t>
            </a:r>
          </a:p>
          <a:p>
            <a:pPr>
              <a:defRPr sz="2200"/>
            </a:pPr>
            <a:r>
              <a:t>Dequeue: O(1) time, O(n) space (for dynamic arrays)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Tree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tree is a data structure composed of nodes, where each node has a value and zero or more child nodes.</a:t>
            </a:r>
          </a:p>
          <a:p>
            <a:pPr>
              <a:defRPr sz="2200"/>
            </a:pPr>
            <a:r>
              <a:t>Types of trees: B-tree, AVL tree, Binary Search Tree, and more.</a:t>
            </a:r>
          </a:p>
          <a:p>
            <a:pPr>
              <a:defRPr sz="2200"/>
            </a:pPr>
            <a:r>
              <a:t>Trees are used for efficient storage and retrieval of data in databases and file systems.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B-Tree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B-tree is a self-balancing search tree data structure that keeps data sorted and allows search, insert, and delete operations in logarithmic time.</a:t>
            </a:r>
          </a:p>
          <a:p>
            <a:pPr>
              <a:defRPr sz="2200"/>
            </a:pPr>
            <a:r>
              <a:t>Each node in a B-tree has a fixed number of keys (K) and child nodes.</a:t>
            </a:r>
          </a:p>
          <a:p>
            <a:pPr>
              <a:defRPr sz="2200"/>
            </a:pPr>
            <a:r>
              <a:t>The height of a B-tree is typically much smaller than the height of a binary search tree with the same number of nodes.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B-Tree Example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Here's a simple implementation of a B-tree in Python.</a:t>
            </a:r>
          </a:p>
          <a:p>
            <a:pPr>
              <a:defRPr sz="2200"/>
            </a:pPr>
            <a:r>
              <a:t>This implementation includes methods for inserting and deleting nodes.</a:t>
            </a:r>
          </a:p>
          <a:p>
            <a:pPr>
              <a:defRPr sz="1600" b="1"/>
            </a:pPr>
            <a:r>
              <a:t>Code (python)</a:t>
            </a:r>
          </a:p>
          <a:p>
            <a:pPr lvl="1">
              <a:defRPr sz="1200">
                <a:latin typeface="Courier New"/>
              </a:defRPr>
            </a:pPr>
            <a:r>
              <a:t>class Node:</a:t>
            </a:r>
          </a:p>
          <a:p>
            <a:pPr lvl="1">
              <a:defRPr sz="1200">
                <a:latin typeface="Courier New"/>
              </a:defRPr>
            </a:pPr>
            <a:r>
              <a:t>  def __init__(self, key):</a:t>
            </a:r>
          </a:p>
          <a:p>
            <a:pPr lvl="1">
              <a:defRPr sz="1200">
                <a:latin typeface="Courier New"/>
              </a:defRPr>
            </a:pPr>
            <a:r>
              <a:t>    self.key = key</a:t>
            </a:r>
          </a:p>
          <a:p>
            <a:pPr lvl="1">
              <a:defRPr sz="1200">
                <a:latin typeface="Courier New"/>
              </a:defRPr>
            </a:pPr>
            <a:r>
              <a:t>    self.children = []</a:t>
            </a:r>
          </a:p>
          <a:p>
            <a:pPr lvl="1">
              <a:defRPr sz="1200">
                <a:latin typeface="Courier New"/>
              </a:defRPr>
            </a:pPr>
          </a:p>
          <a:p>
            <a:pPr lvl="1">
              <a:defRPr sz="1200">
                <a:latin typeface="Courier New"/>
              </a:defRPr>
            </a:pPr>
            <a:r>
              <a:t>class BTree:</a:t>
            </a:r>
          </a:p>
          <a:p>
            <a:pPr lvl="1">
              <a:defRPr sz="1200">
                <a:latin typeface="Courier New"/>
              </a:defRPr>
            </a:pPr>
            <a:r>
              <a:t>  def __init__(self, K):</a:t>
            </a:r>
          </a:p>
          <a:p>
            <a:pPr lvl="1">
              <a:defRPr sz="1200">
                <a:latin typeface="Courier New"/>
              </a:defRPr>
            </a:pPr>
            <a:r>
              <a:t>    self.K = K</a:t>
            </a:r>
          </a:p>
          <a:p>
            <a:pPr lvl="1">
              <a:defRPr sz="1200">
                <a:latin typeface="Courier New"/>
              </a:defRPr>
            </a:pPr>
            <a:r>
              <a:t>    self.root = Node(None)</a:t>
            </a:r>
          </a:p>
          <a:p>
            <a:pPr lvl="1">
              <a:defRPr sz="1200">
                <a:latin typeface="Courier New"/>
              </a:defRPr>
            </a:pPr>
          </a:p>
          <a:p>
            <a:pPr lvl="1">
              <a:defRPr sz="1200">
                <a:latin typeface="Courier New"/>
              </a:defRPr>
            </a:pPr>
            <a:r>
              <a:t>  def insert(self, key):</a:t>
            </a:r>
          </a:p>
          <a:p>
            <a:pPr lvl="1">
              <a:defRPr sz="1200">
                <a:latin typeface="Courier New"/>
              </a:defRPr>
            </a:pPr>
            <a:r>
              <a:t>    self.root = self._insert(self.root, key)</a:t>
            </a:r>
          </a:p>
          <a:p>
            <a:pPr lvl="1">
              <a:defRPr sz="1200">
                <a:latin typeface="Courier New"/>
              </a:defRPr>
            </a:pPr>
          </a:p>
          <a:p>
            <a:pPr lvl="1">
              <a:defRPr sz="1200">
                <a:latin typeface="Courier New"/>
              </a:defRPr>
            </a:pPr>
            <a:r>
              <a:t>  def _insert(self, node, key):</a:t>
            </a:r>
          </a:p>
          <a:p>
            <a:pPr lvl="1">
              <a:defRPr sz="1200">
                <a:latin typeface="Courier New"/>
              </a:defRPr>
            </a:pPr>
            <a:r>
              <a:t>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Sorting Algorithms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Sorting algorithms rearrange elements in a list to satisfy a specific order (e.g., ascending or descending).</a:t>
            </a:r>
          </a:p>
          <a:p>
            <a:pPr>
              <a:defRPr sz="2200"/>
            </a:pPr>
            <a:r>
              <a:t>Common sorting algorithms include Bubble Sort, Selection Sort, Insertion Sort, Merge Sort, and Quick Sort.</a:t>
            </a:r>
          </a:p>
          <a:p>
            <a:pPr>
              <a:defRPr sz="2200"/>
            </a:pPr>
            <a:r>
              <a:t>Each algorithm has its strengths and weaknesses, making some more suitable for specific use cases.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Complexity of Sorting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Bubble Sort: O(n^2) in the worst case, making it inefficient for large datasets.</a:t>
            </a:r>
          </a:p>
          <a:p>
            <a:pPr>
              <a:defRPr sz="2200"/>
            </a:pPr>
            <a:r>
              <a:t>Selection Sort: O(n^2) in the worst case, similar to Bubble Sort.</a:t>
            </a:r>
          </a:p>
          <a:p>
            <a:pPr>
              <a:defRPr sz="2200"/>
            </a:pPr>
            <a:r>
              <a:t>Insertion Sort: O(n^2) in the worst case, but O(n) on average for nearly sorted lists.</a:t>
            </a:r>
          </a:p>
          <a:p>
            <a:pPr>
              <a:defRPr sz="2200"/>
            </a:pPr>
            <a:r>
              <a:t>Merge Sort and Quick Sort: O(n log n) on average, making them suitable for large datasets.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Space Complexity of Sorting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Bubble Sort, Selection Sort, and Insertion Sort: O(1) space complexity, as they only use a constant amount of extra memory.</a:t>
            </a:r>
          </a:p>
          <a:p>
            <a:pPr>
              <a:defRPr sz="2200"/>
            </a:pPr>
            <a:r>
              <a:t>Merge Sort and Quick Sort: O(n) space complexity in the worst case, due to the need to store temporary results.</a:t>
            </a:r>
          </a:p>
          <a:p>
            <a:pPr>
              <a:defRPr sz="2200"/>
            </a:pPr>
            <a:r>
              <a:t>In-place sorting algorithms like Insertion Sort can be more memory-efficient for small datasets.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Searching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Searching algorithms are used to find a specific element in a data set.</a:t>
            </a:r>
          </a:p>
          <a:p>
            <a:pPr>
              <a:defRPr sz="2200"/>
            </a:pPr>
            <a:r>
              <a:t>They are essential in various applications, including databases, web search engines, and file systems.</a:t>
            </a:r>
          </a:p>
          <a:p>
            <a:pPr>
              <a:defRPr sz="2200"/>
            </a:pPr>
            <a:r>
              <a:t>Two popular searching algorithms are Linear Search and Binary Search.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Linear Search compares each element in the data set with the target element.</a:t>
            </a:r>
          </a:p>
          <a:p>
            <a:pPr>
              <a:defRPr sz="2200"/>
            </a:pPr>
            <a:r>
              <a:t>It has a time complexity of O(n), where n is the number of elements in the data set.</a:t>
            </a:r>
          </a:p>
          <a:p>
            <a:pPr>
              <a:defRPr sz="2200"/>
            </a:pPr>
            <a:r>
              <a:t>Linear Search is simple to implement but can be slow for large data sets.</a:t>
            </a:r>
          </a:p>
          <a:p>
            <a:pPr>
              <a:defRPr sz="1600" b="1"/>
            </a:pPr>
            <a:r>
              <a:t>Code (python)</a:t>
            </a:r>
          </a:p>
          <a:p>
            <a:pPr lvl="1">
              <a:defRPr sz="1200">
                <a:latin typeface="Courier New"/>
              </a:defRPr>
            </a:pPr>
            <a:r>
              <a:t>def linear_search(arr, target):</a:t>
            </a:r>
          </a:p>
          <a:p>
            <a:pPr lvl="1">
              <a:defRPr sz="1200">
                <a:latin typeface="Courier New"/>
              </a:defRPr>
            </a:pPr>
            <a:r>
              <a:t>  for i in range(len(arr)):</a:t>
            </a:r>
          </a:p>
          <a:p>
            <a:pPr lvl="1">
              <a:defRPr sz="1200">
                <a:latin typeface="Courier New"/>
              </a:defRPr>
            </a:pPr>
            <a:r>
              <a:t>    if arr[i] == target:</a:t>
            </a:r>
          </a:p>
          <a:p>
            <a:pPr lvl="1">
              <a:defRPr sz="1200">
                <a:latin typeface="Courier New"/>
              </a:defRPr>
            </a:pPr>
            <a:r>
              <a:t>      return i</a:t>
            </a:r>
          </a:p>
          <a:p>
            <a:pPr lvl="1">
              <a:defRPr sz="1200">
                <a:latin typeface="Courier New"/>
              </a:defRPr>
            </a:pPr>
            <a:r>
              <a:t>  return -1</a:t>
            </a:r>
          </a:p>
          <a:p>
            <a:pPr lvl="1">
              <a:defRPr sz="1200">
                <a:latin typeface="Courier New"/>
              </a:defRPr>
            </a:pPr>
          </a:p>
          <a:p>
            <a:pPr lvl="1">
              <a:defRPr sz="1200">
                <a:latin typeface="Courier New"/>
              </a:defRPr>
            </a:pPr>
            <a:r>
              <a:t>arr = [3, 5, 2, 7, 9]</a:t>
            </a:r>
          </a:p>
          <a:p>
            <a:pPr lvl="1">
              <a:defRPr sz="1200">
                <a:latin typeface="Courier New"/>
              </a:defRPr>
            </a:pPr>
            <a:r>
              <a:t>target = 5</a:t>
            </a:r>
          </a:p>
          <a:p>
            <a:pPr lvl="1">
              <a:defRPr sz="1200">
                <a:latin typeface="Courier New"/>
              </a:defRPr>
            </a:pPr>
            <a:r>
              <a:t>result = linear_search(arr, target)</a:t>
            </a:r>
          </a:p>
          <a:p>
            <a:pPr lvl="1">
              <a:defRPr sz="1200">
                <a:latin typeface="Courier New"/>
              </a:defRPr>
            </a:pPr>
            <a:r>
              <a:t>print(result)  # Output: 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Binary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Binary Search divides the data set in half and compares the target element with the middle element.</a:t>
            </a:r>
          </a:p>
          <a:p>
            <a:pPr>
              <a:defRPr sz="2200"/>
            </a:pPr>
            <a:r>
              <a:t>It has a time complexity of O(log n), making it much faster than Linear Search for large data sets.</a:t>
            </a:r>
          </a:p>
          <a:p>
            <a:pPr>
              <a:defRPr sz="2200"/>
            </a:pPr>
            <a:r>
              <a:t>Binary Search requires the data set to be sorted.</a:t>
            </a:r>
          </a:p>
          <a:p>
            <a:pPr>
              <a:defRPr sz="1600" b="1"/>
            </a:pPr>
            <a:r>
              <a:t>Code (python)</a:t>
            </a:r>
          </a:p>
          <a:p>
            <a:pPr lvl="1">
              <a:defRPr sz="1200">
                <a:latin typeface="Courier New"/>
              </a:defRPr>
            </a:pPr>
            <a:r>
              <a:t>def binary_search(arr, target):</a:t>
            </a:r>
          </a:p>
          <a:p>
            <a:pPr lvl="1">
              <a:defRPr sz="1200">
                <a:latin typeface="Courier New"/>
              </a:defRPr>
            </a:pPr>
            <a:r>
              <a:t>  low = 0</a:t>
            </a:r>
          </a:p>
          <a:p>
            <a:pPr lvl="1">
              <a:defRPr sz="1200">
                <a:latin typeface="Courier New"/>
              </a:defRPr>
            </a:pPr>
            <a:r>
              <a:t>  high = len(arr) - 1</a:t>
            </a:r>
          </a:p>
          <a:p>
            <a:pPr lvl="1">
              <a:defRPr sz="1200">
                <a:latin typeface="Courier New"/>
              </a:defRPr>
            </a:pPr>
            <a:r>
              <a:t>  while low &lt;= high:</a:t>
            </a:r>
          </a:p>
          <a:p>
            <a:pPr lvl="1">
              <a:defRPr sz="1200">
                <a:latin typeface="Courier New"/>
              </a:defRPr>
            </a:pPr>
            <a:r>
              <a:t>    mid = (low + high) // 2</a:t>
            </a:r>
          </a:p>
          <a:p>
            <a:pPr lvl="1">
              <a:defRPr sz="1200">
                <a:latin typeface="Courier New"/>
              </a:defRPr>
            </a:pPr>
            <a:r>
              <a:t>    if arr[mid] == target:</a:t>
            </a:r>
          </a:p>
          <a:p>
            <a:pPr lvl="1">
              <a:defRPr sz="1200">
                <a:latin typeface="Courier New"/>
              </a:defRPr>
            </a:pPr>
            <a:r>
              <a:t>      return mid</a:t>
            </a:r>
          </a:p>
          <a:p>
            <a:pPr lvl="1">
              <a:defRPr sz="1200">
                <a:latin typeface="Courier New"/>
              </a:defRPr>
            </a:pPr>
            <a:r>
              <a:t>    elif arr[mid] &lt; target:</a:t>
            </a:r>
          </a:p>
          <a:p>
            <a:pPr lvl="1">
              <a:defRPr sz="1200">
                <a:latin typeface="Courier New"/>
              </a:defRPr>
            </a:pPr>
            <a:r>
              <a:t>      low = mid + 1</a:t>
            </a:r>
          </a:p>
          <a:p>
            <a:pPr lvl="1">
              <a:defRPr sz="1200">
                <a:latin typeface="Courier New"/>
              </a:defRPr>
            </a:pPr>
            <a:r>
              <a:t>    else:</a:t>
            </a:r>
          </a:p>
          <a:p>
            <a:pPr lvl="1">
              <a:defRPr sz="1200">
                <a:latin typeface="Courier New"/>
              </a:defRPr>
            </a:pPr>
            <a:r>
              <a:t>      high = mid - 1</a:t>
            </a:r>
          </a:p>
          <a:p>
            <a:pPr lvl="1">
              <a:defRPr sz="1200">
                <a:latin typeface="Courier New"/>
              </a:defRPr>
            </a:pPr>
            <a:r>
              <a:t>  return -1</a:t>
            </a:r>
          </a:p>
          <a:p>
            <a:pPr lvl="1">
              <a:defRPr sz="1200">
                <a:latin typeface="Courier New"/>
              </a:defRPr>
            </a:pPr>
          </a:p>
          <a:p>
            <a:pPr lvl="1">
              <a:defRPr sz="1200">
                <a:latin typeface="Courier New"/>
              </a:defRPr>
            </a:pPr>
            <a:r>
              <a:t>arr = [1, 2, 3, 4, 5, 6, 7, 8, 9]</a:t>
            </a:r>
          </a:p>
          <a:p>
            <a:pPr lvl="1">
              <a:defRPr sz="1200">
                <a:latin typeface="Courier New"/>
              </a:defRPr>
            </a:pPr>
            <a:r>
              <a:t>...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Recap of 7 major areas in Data Structure and Algorithm</a:t>
            </a:r>
          </a:p>
          <a:p>
            <a:pPr>
              <a:defRPr sz="2200"/>
            </a:pPr>
            <a:r>
              <a:t>Key takeaways to retain for implementation and decision-making</a:t>
            </a:r>
          </a:p>
          <a:p>
            <a:pPr>
              <a:defRPr sz="2200"/>
            </a:pPr>
            <a:r>
              <a:t>Suggested path for deeper study and practical application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