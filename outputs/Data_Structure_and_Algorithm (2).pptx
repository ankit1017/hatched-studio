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slide to introduce scope and 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Emphasize the importance of data structures in computer science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Highlight the benefits of using data structures in software development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Focus on the key characteristics of each data structure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Arrays support various operations, but each operation has its own time complexity.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time complexity of array operations depends on the position of the element and the algorithm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Vectors provide a more efficient way to implement dynamic arrays than traditional arrays.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Linked list operations are fundamental to understanding data structures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 complexity varies depending on the operation and location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Implementation details are crucial for understanding linked lists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Understanding the basic operations of a stack is crucial for implementing various algorithms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Knowledge of queue operations is essential for understanding various data structures and algorithms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Understanding the time and space complexity of stack and queue operations is vital for optimizing algorithms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Trees are a fundamental data structure in computer science, used in various applications such as database indexing and file system organization.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B-trees are commonly used in databases and file systems to improve query performance.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code demonstrates the basic structure and operations of a B-tree.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Emphasize the importance of understanding the trade-offs between different sorting algorithms.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Highlight the significance of time complexity in choosing a sorting algorithm.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Discuss the implications of space complexity on memory usage and scalability.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Highlight the importance of searching algorithms in real-world applications.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Discuss the trade-off between simplicity and efficiency.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Highlight the advantages of Binary Search over Linear Search.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actionable next steps and Q&amp;A transition.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8992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4800">
                <a:solidFill>
                  <a:srgbClr val="14532D"/>
                </a:solidFill>
                <a:latin typeface="Calibri"/>
              </a:defRPr>
            </a:pPr>
            <a:r>
              <a:t>Data Structure and Algorithm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166534"/>
                </a:solidFill>
                <a:latin typeface="Calibri"/>
              </a:defRPr>
            </a:pPr>
            <a:r>
              <a:t>Generated by Knowledge App | Template: Sage Modern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595360" y="502920"/>
            <a:ext cx="2743200" cy="411480"/>
          </a:xfrm>
          <a:prstGeom prst="round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300">
                <a:solidFill>
                  <a:srgbClr val="166534"/>
                </a:solidFill>
                <a:latin typeface="Calibri"/>
              </a:defRPr>
            </a:pPr>
            <a: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400">
                <a:solidFill>
                  <a:srgbClr val="14532D"/>
                </a:solidFill>
                <a:latin typeface="Calibri"/>
              </a:defRPr>
            </a:pPr>
            <a:r>
              <a:t>Data Structure and Algorithm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1042416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  <a:defRPr sz="2400">
                <a:solidFill>
                  <a:srgbClr val="166534"/>
                </a:solidFill>
                <a:latin typeface="Calibri"/>
              </a:defRPr>
            </a:pPr>
            <a:r>
              <a:t>- Presentation roadmap with 7 core sections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2400">
                <a:solidFill>
                  <a:srgbClr val="166534"/>
                </a:solidFill>
                <a:latin typeface="Calibri"/>
              </a:defRPr>
            </a:pPr>
            <a:r>
              <a:t>- Progressive coverage from fundamentals to practical understanding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2400">
                <a:solidFill>
                  <a:srgbClr val="166534"/>
                </a:solidFill>
                <a:latin typeface="Calibri"/>
              </a:defRPr>
            </a:pPr>
            <a:r>
              <a:t>- Focus on concepts, trade-offs, and real-world applicability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595360" y="502920"/>
            <a:ext cx="2743200" cy="411480"/>
          </a:xfrm>
          <a:prstGeom prst="round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300">
                <a:solidFill>
                  <a:srgbClr val="166534"/>
                </a:solidFill>
                <a:latin typeface="Calibri"/>
              </a:defRPr>
            </a:pPr>
            <a:r>
              <a:t>Introduction to Data Structures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400">
                <a:solidFill>
                  <a:srgbClr val="14532D"/>
                </a:solidFill>
                <a:latin typeface="Calibri"/>
              </a:defRPr>
            </a:pPr>
            <a:r>
              <a:t>What are Data Structures?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1042416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  <a:defRPr sz="2400">
                <a:solidFill>
                  <a:srgbClr val="166534"/>
                </a:solidFill>
                <a:latin typeface="Calibri"/>
              </a:defRPr>
            </a:pPr>
            <a:r>
              <a:t>- A data structure is a way to organize and store data in a computer so that it can be efficiently accessed and modified.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2400">
                <a:solidFill>
                  <a:srgbClr val="166534"/>
                </a:solidFill>
                <a:latin typeface="Calibri"/>
              </a:defRPr>
            </a:pPr>
            <a:r>
              <a:t>- Data structures are the building blocks of algorithms and are used to solve problems in various fields such as computer science, engineering, and economics.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2400">
                <a:solidFill>
                  <a:srgbClr val="166534"/>
                </a:solidFill>
                <a:latin typeface="Calibri"/>
              </a:defRPr>
            </a:pPr>
            <a:r>
              <a:t>- Examples of data structures include arrays, linked lists, stacks, queues, trees, and graphs.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595360" y="502920"/>
            <a:ext cx="2743200" cy="411480"/>
          </a:xfrm>
          <a:prstGeom prst="round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300">
                <a:solidFill>
                  <a:srgbClr val="166534"/>
                </a:solidFill>
                <a:latin typeface="Calibri"/>
              </a:defRPr>
            </a:pPr>
            <a:r>
              <a:t>Introduction to Data Structures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400">
                <a:solidFill>
                  <a:srgbClr val="14532D"/>
                </a:solidFill>
                <a:latin typeface="Calibri"/>
              </a:defRPr>
            </a:pPr>
            <a:r>
              <a:t>Importance of Data Structures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1042416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  <a:defRPr sz="2400">
                <a:solidFill>
                  <a:srgbClr val="166534"/>
                </a:solidFill>
                <a:latin typeface="Calibri"/>
              </a:defRPr>
            </a:pPr>
            <a:r>
              <a:t>- Efficient use of memory and storage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2400">
                <a:solidFill>
                  <a:srgbClr val="166534"/>
                </a:solidFill>
                <a:latin typeface="Calibri"/>
              </a:defRPr>
            </a:pPr>
            <a:r>
              <a:t>- Fast data retrieval and manipulation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2400">
                <a:solidFill>
                  <a:srgbClr val="166534"/>
                </a:solidFill>
                <a:latin typeface="Calibri"/>
              </a:defRPr>
            </a:pPr>
            <a:r>
              <a:t>- Improved algorithm performance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2400">
                <a:solidFill>
                  <a:srgbClr val="166534"/>
                </a:solidFill>
                <a:latin typeface="Calibri"/>
              </a:defRPr>
            </a:pPr>
            <a:r>
              <a:t>- Better scalability and maintainability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595360" y="502920"/>
            <a:ext cx="2743200" cy="411480"/>
          </a:xfrm>
          <a:prstGeom prst="round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300">
                <a:solidFill>
                  <a:srgbClr val="166534"/>
                </a:solidFill>
                <a:latin typeface="Calibri"/>
              </a:defRPr>
            </a:pPr>
            <a:r>
              <a:t>Introduction to Data Structures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400">
                <a:solidFill>
                  <a:srgbClr val="14532D"/>
                </a:solidFill>
                <a:latin typeface="Calibri"/>
              </a:defRPr>
            </a:pPr>
            <a:r>
              <a:t>Types of Data Structures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539496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  <a:defRPr sz="2200">
                <a:solidFill>
                  <a:srgbClr val="166534"/>
                </a:solidFill>
                <a:latin typeface="Calibri"/>
              </a:defRPr>
            </a:pPr>
            <a:r>
              <a:t>- Arrays: store a collection of elements of the same data type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2200">
                <a:solidFill>
                  <a:srgbClr val="166534"/>
                </a:solidFill>
                <a:latin typeface="Calibri"/>
              </a:defRPr>
            </a:pPr>
            <a:r>
              <a:t>- Linked Lists: store a sequence of elements, each with a reference to the next element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2200">
                <a:solidFill>
                  <a:srgbClr val="166534"/>
                </a:solidFill>
                <a:latin typeface="Calibri"/>
              </a:defRPr>
            </a:pPr>
            <a:r>
              <a:t>- Stacks: follow the LIFO (Last In, First Out) principle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2200">
                <a:solidFill>
                  <a:srgbClr val="166534"/>
                </a:solidFill>
                <a:latin typeface="Calibri"/>
              </a:defRPr>
            </a:pPr>
            <a:r>
              <a:t>- Queues: follow the FIFO (First In, First Out) principle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2200">
                <a:solidFill>
                  <a:srgbClr val="166534"/>
                </a:solidFill>
                <a:latin typeface="Calibri"/>
              </a:defRPr>
            </a:pPr>
            <a:r>
              <a:t>- Trees: a hierarchical data structure with nodes and edges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2200">
                <a:solidFill>
                  <a:srgbClr val="166534"/>
                </a:solidFill>
                <a:latin typeface="Calibri"/>
              </a:defRPr>
            </a:pPr>
            <a:r>
              <a:t>- Graphs: a non-linear data structure consisting of nodes and edges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572768"/>
            <a:ext cx="5230368" cy="4800600"/>
          </a:xfrm>
          <a:prstGeom prst="round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55080" y="1682496"/>
            <a:ext cx="491032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DCFCE7"/>
                </a:solidFill>
                <a:latin typeface="Calibri"/>
              </a:defRPr>
            </a:pPr>
            <a:r>
              <a:t>Code (python)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5080" y="2075688"/>
            <a:ext cx="4910328" cy="41239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1300">
                <a:solidFill>
                  <a:srgbClr val="DCFCE7"/>
                </a:solidFill>
                <a:latin typeface="Consolas"/>
              </a:defRPr>
            </a:pPr>
            <a:r>
              <a:t>import array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1300">
                <a:solidFill>
                  <a:srgbClr val="DCFCE7"/>
                </a:solidFill>
                <a:latin typeface="Consolas"/>
              </a:defRPr>
            </a:pPr>
          </a:p>
          <a:p>
            <a:pPr>
              <a:lnSpc>
                <a:spcPct val="100000"/>
              </a:lnSpc>
              <a:spcAft>
                <a:spcPts val="0"/>
              </a:spcAft>
              <a:defRPr sz="1300">
                <a:solidFill>
                  <a:srgbClr val="DCFCE7"/>
                </a:solidFill>
                <a:latin typeface="Consolas"/>
              </a:defRPr>
            </a:pPr>
            <a:r>
              <a:t>def create_array():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1300">
                <a:solidFill>
                  <a:srgbClr val="DCFCE7"/>
                </a:solidFill>
                <a:latin typeface="Consolas"/>
              </a:defRPr>
            </a:pPr>
            <a:r>
              <a:t>    arr = array.array('i', [1, 2, 3, 4, 5])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1300">
                <a:solidFill>
                  <a:srgbClr val="DCFCE7"/>
                </a:solidFill>
                <a:latin typeface="Consolas"/>
              </a:defRPr>
            </a:pPr>
            <a:r>
              <a:t>    return arr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1300">
                <a:solidFill>
                  <a:srgbClr val="DCFCE7"/>
                </a:solidFill>
                <a:latin typeface="Consolas"/>
              </a:defRPr>
            </a:pPr>
          </a:p>
          <a:p>
            <a:pPr>
              <a:lnSpc>
                <a:spcPct val="100000"/>
              </a:lnSpc>
              <a:spcAft>
                <a:spcPts val="0"/>
              </a:spcAft>
              <a:defRPr sz="1300">
                <a:solidFill>
                  <a:srgbClr val="DCFCE7"/>
                </a:solidFill>
                <a:latin typeface="Consolas"/>
              </a:defRPr>
            </a:pPr>
            <a:r>
              <a:t>def print_array(arr):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1300">
                <a:solidFill>
                  <a:srgbClr val="DCFCE7"/>
                </a:solidFill>
                <a:latin typeface="Consolas"/>
              </a:defRPr>
            </a:pPr>
            <a:r>
              <a:t>    for i in arr: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1300">
                <a:solidFill>
                  <a:srgbClr val="DCFCE7"/>
                </a:solidFill>
                <a:latin typeface="Consolas"/>
              </a:defRPr>
            </a:pPr>
            <a:r>
              <a:t>        print(i)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1300">
                <a:solidFill>
                  <a:srgbClr val="DCFCE7"/>
                </a:solidFill>
                <a:latin typeface="Consolas"/>
              </a:defRPr>
            </a:pPr>
          </a:p>
          <a:p>
            <a:pPr>
              <a:lnSpc>
                <a:spcPct val="100000"/>
              </a:lnSpc>
              <a:spcAft>
                <a:spcPts val="0"/>
              </a:spcAft>
              <a:defRPr sz="1300">
                <a:solidFill>
                  <a:srgbClr val="DCFCE7"/>
                </a:solidFill>
                <a:latin typeface="Consolas"/>
              </a:defRPr>
            </a:pPr>
            <a:r>
              <a:t>arr = create_array()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1300">
                <a:solidFill>
                  <a:srgbClr val="DCFCE7"/>
                </a:solidFill>
                <a:latin typeface="Consolas"/>
              </a:defRPr>
            </a:pPr>
            <a:r>
              <a:t>print_array(arr)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595360" y="502920"/>
            <a:ext cx="2743200" cy="411480"/>
          </a:xfrm>
          <a:prstGeom prst="round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300">
                <a:solidFill>
                  <a:srgbClr val="166534"/>
                </a:solidFill>
                <a:latin typeface="Calibri"/>
              </a:defRPr>
            </a:pPr>
            <a:r>
              <a:t>Arrays and Vectors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400">
                <a:solidFill>
                  <a:srgbClr val="14532D"/>
                </a:solidFill>
                <a:latin typeface="Calibri"/>
              </a:defRPr>
            </a:pPr>
            <a:r>
              <a:t>Array Operations: Insert, Delete, Search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1042416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  <a:defRPr sz="2400">
                <a:solidFill>
                  <a:srgbClr val="166534"/>
                </a:solidFill>
                <a:latin typeface="Calibri"/>
              </a:defRPr>
            </a:pPr>
            <a:r>
              <a:t>- Insertion: Adding an element at a specific position or at the end of the array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2400">
                <a:solidFill>
                  <a:srgbClr val="166534"/>
                </a:solidFill>
                <a:latin typeface="Calibri"/>
              </a:defRPr>
            </a:pPr>
            <a:r>
              <a:t>- Deletion: Removing an element at a specific position or from the end of the array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2400">
                <a:solidFill>
                  <a:srgbClr val="166534"/>
                </a:solidFill>
                <a:latin typeface="Calibri"/>
              </a:defRPr>
            </a:pPr>
            <a:r>
              <a:t>- Search: Locating an element by its value or index in the array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595360" y="502920"/>
            <a:ext cx="2743200" cy="411480"/>
          </a:xfrm>
          <a:prstGeom prst="round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300">
                <a:solidFill>
                  <a:srgbClr val="166534"/>
                </a:solidFill>
                <a:latin typeface="Calibri"/>
              </a:defRPr>
            </a:pPr>
            <a:r>
              <a:t>Arrays and Vectors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400">
                <a:solidFill>
                  <a:srgbClr val="14532D"/>
                </a:solidFill>
                <a:latin typeface="Calibri"/>
              </a:defRPr>
            </a:pPr>
            <a:r>
              <a:t>Time Complexity of Array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1042416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  <a:defRPr sz="2400">
                <a:solidFill>
                  <a:srgbClr val="166534"/>
                </a:solidFill>
                <a:latin typeface="Calibri"/>
              </a:defRPr>
            </a:pPr>
            <a:r>
              <a:t>- Insertion: O(n) when inserting at a specific position, O(1) when inserting at the end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2400">
                <a:solidFill>
                  <a:srgbClr val="166534"/>
                </a:solidFill>
                <a:latin typeface="Calibri"/>
              </a:defRPr>
            </a:pPr>
            <a:r>
              <a:t>- Deletion: O(n) when deleting at a specific position, O(1) when deleting from the end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2400">
                <a:solidFill>
                  <a:srgbClr val="166534"/>
                </a:solidFill>
                <a:latin typeface="Calibri"/>
              </a:defRPr>
            </a:pPr>
            <a:r>
              <a:t>- Search: O(n) in the worst case, but can be O(1) with a hash table or binary search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595360" y="502920"/>
            <a:ext cx="2743200" cy="411480"/>
          </a:xfrm>
          <a:prstGeom prst="round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300">
                <a:solidFill>
                  <a:srgbClr val="166534"/>
                </a:solidFill>
                <a:latin typeface="Calibri"/>
              </a:defRPr>
            </a:pPr>
            <a:r>
              <a:t>Arrays and Vectors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400">
                <a:solidFill>
                  <a:srgbClr val="14532D"/>
                </a:solidFill>
                <a:latin typeface="Calibri"/>
              </a:defRPr>
            </a:pPr>
            <a:r>
              <a:t>Vector Implementation: Dynamic Arrays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1042416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  <a:defRPr sz="2400">
                <a:solidFill>
                  <a:srgbClr val="166534"/>
                </a:solidFill>
                <a:latin typeface="Calibri"/>
              </a:defRPr>
            </a:pPr>
            <a:r>
              <a:t>- A vector is a dynamic array that can resize itself when elements are added or removed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2400">
                <a:solidFill>
                  <a:srgbClr val="166534"/>
                </a:solidFill>
                <a:latin typeface="Calibri"/>
              </a:defRPr>
            </a:pPr>
            <a:r>
              <a:t>- Vectors use a combination of arrays and linked lists to achieve efficient insertion and deletion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2400">
                <a:solidFill>
                  <a:srgbClr val="166534"/>
                </a:solidFill>
                <a:latin typeface="Calibri"/>
              </a:defRPr>
            </a:pPr>
            <a:r>
              <a:t>- Vectors are commonly used in programming languages to implement data structures like lists and stacks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595360" y="502920"/>
            <a:ext cx="2743200" cy="411480"/>
          </a:xfrm>
          <a:prstGeom prst="round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300">
                <a:solidFill>
                  <a:srgbClr val="166534"/>
                </a:solidFill>
                <a:latin typeface="Calibri"/>
              </a:defRPr>
            </a:pPr>
            <a:r>
              <a:t>Linked Lists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400">
                <a:solidFill>
                  <a:srgbClr val="14532D"/>
                </a:solidFill>
                <a:latin typeface="Calibri"/>
              </a:defRPr>
            </a:pPr>
            <a:r>
              <a:t>Linked List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1042416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  <a:defRPr sz="2400">
                <a:solidFill>
                  <a:srgbClr val="166534"/>
                </a:solidFill>
                <a:latin typeface="Calibri"/>
              </a:defRPr>
            </a:pPr>
            <a:r>
              <a:t>- Insertion: Adding a new node at the beginning or end of the list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2400">
                <a:solidFill>
                  <a:srgbClr val="166534"/>
                </a:solidFill>
                <a:latin typeface="Calibri"/>
              </a:defRPr>
            </a:pPr>
            <a:r>
              <a:t>- Deletion: Removing a node with a specific value or at a specific position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2400">
                <a:solidFill>
                  <a:srgbClr val="166534"/>
                </a:solidFill>
                <a:latin typeface="Calibri"/>
              </a:defRPr>
            </a:pPr>
            <a:r>
              <a:t>- Search: Finding a node with a specific value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595360" y="502920"/>
            <a:ext cx="2743200" cy="411480"/>
          </a:xfrm>
          <a:prstGeom prst="round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300">
                <a:solidFill>
                  <a:srgbClr val="166534"/>
                </a:solidFill>
                <a:latin typeface="Calibri"/>
              </a:defRPr>
            </a:pPr>
            <a:r>
              <a:t>Linked Lists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400">
                <a:solidFill>
                  <a:srgbClr val="14532D"/>
                </a:solidFill>
                <a:latin typeface="Calibri"/>
              </a:defRPr>
            </a:pPr>
            <a:r>
              <a:t>Time and Space Complexity of Linked List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1042416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  <a:defRPr sz="2400">
                <a:solidFill>
                  <a:srgbClr val="166534"/>
                </a:solidFill>
                <a:latin typeface="Calibri"/>
              </a:defRPr>
            </a:pPr>
            <a:r>
              <a:t>- Insertion: O(1) for appending, O(n) for inserting at the beginning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2400">
                <a:solidFill>
                  <a:srgbClr val="166534"/>
                </a:solidFill>
                <a:latin typeface="Calibri"/>
              </a:defRPr>
            </a:pPr>
            <a:r>
              <a:t>- Deletion: O(1) for deleting the last node, O(n) for deleting a node in the middle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2400">
                <a:solidFill>
                  <a:srgbClr val="166534"/>
                </a:solidFill>
                <a:latin typeface="Calibri"/>
              </a:defRPr>
            </a:pPr>
            <a:r>
              <a:t>- Search: O(n) in the worst case, O(1) if using a hash table for node storage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595360" y="502920"/>
            <a:ext cx="2743200" cy="411480"/>
          </a:xfrm>
          <a:prstGeom prst="round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300">
                <a:solidFill>
                  <a:srgbClr val="166534"/>
                </a:solidFill>
                <a:latin typeface="Calibri"/>
              </a:defRPr>
            </a:pPr>
            <a:r>
              <a:t>Linked Lists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400">
                <a:solidFill>
                  <a:srgbClr val="14532D"/>
                </a:solidFill>
                <a:latin typeface="Calibri"/>
              </a:defRPr>
            </a:pPr>
            <a:r>
              <a:t>Linked List Implementation in Python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1042416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  <a:defRPr sz="2400">
                <a:solidFill>
                  <a:srgbClr val="166534"/>
                </a:solidFill>
                <a:latin typeface="Calibri"/>
              </a:defRPr>
            </a:pPr>
            <a:r>
              <a:t>- Node class: Represents a single node in the list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2400">
                <a:solidFill>
                  <a:srgbClr val="166534"/>
                </a:solidFill>
                <a:latin typeface="Calibri"/>
              </a:defRPr>
            </a:pPr>
            <a:r>
              <a:t>- LinkedList class: Manages the list and provides operations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2400">
                <a:solidFill>
                  <a:srgbClr val="166534"/>
                </a:solidFill>
                <a:latin typeface="Calibri"/>
              </a:defRPr>
            </a:pPr>
            <a:r>
              <a:t>- Example usage: Creating a linked list and performing operations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595360" y="502920"/>
            <a:ext cx="2743200" cy="411480"/>
          </a:xfrm>
          <a:prstGeom prst="round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300">
                <a:solidFill>
                  <a:srgbClr val="166534"/>
                </a:solidFill>
                <a:latin typeface="Calibri"/>
              </a:defRPr>
            </a:pPr>
            <a:r>
              <a:t>Stacks and Queues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400">
                <a:solidFill>
                  <a:srgbClr val="14532D"/>
                </a:solidFill>
                <a:latin typeface="Calibri"/>
              </a:defRPr>
            </a:pPr>
            <a:r>
              <a:t>Stack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1042416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  <a:defRPr sz="2400">
                <a:solidFill>
                  <a:srgbClr val="166534"/>
                </a:solidFill>
                <a:latin typeface="Calibri"/>
              </a:defRPr>
            </a:pPr>
            <a:r>
              <a:t>- Push: add an element to the top of the stack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2400">
                <a:solidFill>
                  <a:srgbClr val="166534"/>
                </a:solidFill>
                <a:latin typeface="Calibri"/>
              </a:defRPr>
            </a:pPr>
            <a:r>
              <a:t>- Pop: remove an element from the top of the stack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2400">
                <a:solidFill>
                  <a:srgbClr val="166534"/>
                </a:solidFill>
                <a:latin typeface="Calibri"/>
              </a:defRPr>
            </a:pPr>
            <a:r>
              <a:t>- Peek: view the top element of the stack without removing it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2400">
                <a:solidFill>
                  <a:srgbClr val="166534"/>
                </a:solidFill>
                <a:latin typeface="Calibri"/>
              </a:defRPr>
            </a:pPr>
            <a:r>
              <a:t>- IsEmpty: check if the stack is empty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595360" y="502920"/>
            <a:ext cx="2743200" cy="411480"/>
          </a:xfrm>
          <a:prstGeom prst="round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300">
                <a:solidFill>
                  <a:srgbClr val="166534"/>
                </a:solidFill>
                <a:latin typeface="Calibri"/>
              </a:defRPr>
            </a:pPr>
            <a:r>
              <a:t>Stacks and Queues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400">
                <a:solidFill>
                  <a:srgbClr val="14532D"/>
                </a:solidFill>
                <a:latin typeface="Calibri"/>
              </a:defRPr>
            </a:pPr>
            <a:r>
              <a:t>Queue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1042416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  <a:defRPr sz="2400">
                <a:solidFill>
                  <a:srgbClr val="166534"/>
                </a:solidFill>
                <a:latin typeface="Calibri"/>
              </a:defRPr>
            </a:pPr>
            <a:r>
              <a:t>- Enqueue: add an element to the end of the queue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2400">
                <a:solidFill>
                  <a:srgbClr val="166534"/>
                </a:solidFill>
                <a:latin typeface="Calibri"/>
              </a:defRPr>
            </a:pPr>
            <a:r>
              <a:t>- Dequeue: remove an element from the front of the queue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2400">
                <a:solidFill>
                  <a:srgbClr val="166534"/>
                </a:solidFill>
                <a:latin typeface="Calibri"/>
              </a:defRPr>
            </a:pPr>
            <a:r>
              <a:t>- Peek: view the front element of the queue without removing it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2400">
                <a:solidFill>
                  <a:srgbClr val="166534"/>
                </a:solidFill>
                <a:latin typeface="Calibri"/>
              </a:defRPr>
            </a:pPr>
            <a:r>
              <a:t>- IsEmpty: check if the queue is empty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595360" y="502920"/>
            <a:ext cx="2743200" cy="411480"/>
          </a:xfrm>
          <a:prstGeom prst="round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300">
                <a:solidFill>
                  <a:srgbClr val="166534"/>
                </a:solidFill>
                <a:latin typeface="Calibri"/>
              </a:defRPr>
            </a:pPr>
            <a:r>
              <a:t>Stacks and Queues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400">
                <a:solidFill>
                  <a:srgbClr val="14532D"/>
                </a:solidFill>
                <a:latin typeface="Calibri"/>
              </a:defRPr>
            </a:pPr>
            <a:r>
              <a:t>Time and Space Complexity of Stack and Queue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1042416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  <a:defRPr sz="2400">
                <a:solidFill>
                  <a:srgbClr val="166534"/>
                </a:solidFill>
                <a:latin typeface="Calibri"/>
              </a:defRPr>
            </a:pPr>
            <a:r>
              <a:t>- Push: O(1) time, O(n) space (for dynamic arrays)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2400">
                <a:solidFill>
                  <a:srgbClr val="166534"/>
                </a:solidFill>
                <a:latin typeface="Calibri"/>
              </a:defRPr>
            </a:pPr>
            <a:r>
              <a:t>- Pop: O(1) time, O(n) space (for dynamic arrays)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2400">
                <a:solidFill>
                  <a:srgbClr val="166534"/>
                </a:solidFill>
                <a:latin typeface="Calibri"/>
              </a:defRPr>
            </a:pPr>
            <a:r>
              <a:t>- Peek: O(1) time, O(n) space (for dynamic arrays)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2400">
                <a:solidFill>
                  <a:srgbClr val="166534"/>
                </a:solidFill>
                <a:latin typeface="Calibri"/>
              </a:defRPr>
            </a:pPr>
            <a:r>
              <a:t>- Enqueue: O(1) time, O(n) space (for dynamic arrays)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2400">
                <a:solidFill>
                  <a:srgbClr val="166534"/>
                </a:solidFill>
                <a:latin typeface="Calibri"/>
              </a:defRPr>
            </a:pPr>
            <a:r>
              <a:t>- Dequeue: O(1) time, O(n) space (for dynamic arrays)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595360" y="502920"/>
            <a:ext cx="2743200" cy="411480"/>
          </a:xfrm>
          <a:prstGeom prst="round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300">
                <a:solidFill>
                  <a:srgbClr val="166534"/>
                </a:solidFill>
                <a:latin typeface="Calibri"/>
              </a:defRPr>
            </a:pPr>
            <a:r>
              <a:t>Trees and Graphs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400">
                <a:solidFill>
                  <a:srgbClr val="14532D"/>
                </a:solidFill>
                <a:latin typeface="Calibri"/>
              </a:defRPr>
            </a:pPr>
            <a:r>
              <a:t>Tree Data Structures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1042416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  <a:defRPr sz="2400">
                <a:solidFill>
                  <a:srgbClr val="166534"/>
                </a:solidFill>
                <a:latin typeface="Calibri"/>
              </a:defRPr>
            </a:pPr>
            <a:r>
              <a:t>- A tree is a data structure composed of nodes, where each node has a value and zero or more child nodes.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2400">
                <a:solidFill>
                  <a:srgbClr val="166534"/>
                </a:solidFill>
                <a:latin typeface="Calibri"/>
              </a:defRPr>
            </a:pPr>
            <a:r>
              <a:t>- Types of trees: B-tree, AVL tree, Binary Search Tree, and more.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2400">
                <a:solidFill>
                  <a:srgbClr val="166534"/>
                </a:solidFill>
                <a:latin typeface="Calibri"/>
              </a:defRPr>
            </a:pPr>
            <a:r>
              <a:t>- Trees are used for efficient storage and retrieval of data in databases and file systems.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595360" y="502920"/>
            <a:ext cx="2743200" cy="411480"/>
          </a:xfrm>
          <a:prstGeom prst="round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300">
                <a:solidFill>
                  <a:srgbClr val="166534"/>
                </a:solidFill>
                <a:latin typeface="Calibri"/>
              </a:defRPr>
            </a:pPr>
            <a:r>
              <a:t>Trees and Graphs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400">
                <a:solidFill>
                  <a:srgbClr val="14532D"/>
                </a:solidFill>
                <a:latin typeface="Calibri"/>
              </a:defRPr>
            </a:pPr>
            <a:r>
              <a:t>B-Tree Properties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1042416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  <a:defRPr sz="2400">
                <a:solidFill>
                  <a:srgbClr val="166534"/>
                </a:solidFill>
                <a:latin typeface="Calibri"/>
              </a:defRPr>
            </a:pPr>
            <a:r>
              <a:t>- A B-tree is a self-balancing search tree data structure that keeps data sorted and allows search, insert, and delete operations in logarithmic time.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2400">
                <a:solidFill>
                  <a:srgbClr val="166534"/>
                </a:solidFill>
                <a:latin typeface="Calibri"/>
              </a:defRPr>
            </a:pPr>
            <a:r>
              <a:t>- Each node in a B-tree has a fixed number of keys (K) and child nodes.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2400">
                <a:solidFill>
                  <a:srgbClr val="166534"/>
                </a:solidFill>
                <a:latin typeface="Calibri"/>
              </a:defRPr>
            </a:pPr>
            <a:r>
              <a:t>- The height of a B-tree is typically much smaller than the height of a binary search tree with the same number of nodes.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595360" y="502920"/>
            <a:ext cx="2743200" cy="411480"/>
          </a:xfrm>
          <a:prstGeom prst="round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300">
                <a:solidFill>
                  <a:srgbClr val="166534"/>
                </a:solidFill>
                <a:latin typeface="Calibri"/>
              </a:defRPr>
            </a:pPr>
            <a:r>
              <a:t>Trees and Graphs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400">
                <a:solidFill>
                  <a:srgbClr val="14532D"/>
                </a:solidFill>
                <a:latin typeface="Calibri"/>
              </a:defRPr>
            </a:pPr>
            <a:r>
              <a:t>B-Tree Example in Python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539496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  <a:defRPr sz="2200">
                <a:solidFill>
                  <a:srgbClr val="166534"/>
                </a:solidFill>
                <a:latin typeface="Calibri"/>
              </a:defRPr>
            </a:pPr>
            <a:r>
              <a:t>- Here's a simple implementation of a B-tree in Python.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2200">
                <a:solidFill>
                  <a:srgbClr val="166534"/>
                </a:solidFill>
                <a:latin typeface="Calibri"/>
              </a:defRPr>
            </a:pPr>
            <a:r>
              <a:t>- This implementation includes methods for inserting and deleting nodes.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572768"/>
            <a:ext cx="5230368" cy="4800600"/>
          </a:xfrm>
          <a:prstGeom prst="round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55080" y="1682496"/>
            <a:ext cx="491032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DCFCE7"/>
                </a:solidFill>
                <a:latin typeface="Calibri"/>
              </a:defRPr>
            </a:pPr>
            <a:r>
              <a:t>Code (python)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5080" y="2075688"/>
            <a:ext cx="4910328" cy="41239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1100">
                <a:solidFill>
                  <a:srgbClr val="DCFCE7"/>
                </a:solidFill>
                <a:latin typeface="Consolas"/>
              </a:defRPr>
            </a:pPr>
            <a:r>
              <a:t>class Node: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1100">
                <a:solidFill>
                  <a:srgbClr val="DCFCE7"/>
                </a:solidFill>
                <a:latin typeface="Consolas"/>
              </a:defRPr>
            </a:pPr>
            <a:r>
              <a:t>  def __init__(self, key):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1100">
                <a:solidFill>
                  <a:srgbClr val="DCFCE7"/>
                </a:solidFill>
                <a:latin typeface="Consolas"/>
              </a:defRPr>
            </a:pPr>
            <a:r>
              <a:t>    self.key = key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1100">
                <a:solidFill>
                  <a:srgbClr val="DCFCE7"/>
                </a:solidFill>
                <a:latin typeface="Consolas"/>
              </a:defRPr>
            </a:pPr>
            <a:r>
              <a:t>    self.children = []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1100">
                <a:solidFill>
                  <a:srgbClr val="DCFCE7"/>
                </a:solidFill>
                <a:latin typeface="Consolas"/>
              </a:defRPr>
            </a:pPr>
          </a:p>
          <a:p>
            <a:pPr>
              <a:lnSpc>
                <a:spcPct val="100000"/>
              </a:lnSpc>
              <a:spcAft>
                <a:spcPts val="0"/>
              </a:spcAft>
              <a:defRPr sz="1100">
                <a:solidFill>
                  <a:srgbClr val="DCFCE7"/>
                </a:solidFill>
                <a:latin typeface="Consolas"/>
              </a:defRPr>
            </a:pPr>
            <a:r>
              <a:t>class BTree: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1100">
                <a:solidFill>
                  <a:srgbClr val="DCFCE7"/>
                </a:solidFill>
                <a:latin typeface="Consolas"/>
              </a:defRPr>
            </a:pPr>
            <a:r>
              <a:t>  def __init__(self, K):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1100">
                <a:solidFill>
                  <a:srgbClr val="DCFCE7"/>
                </a:solidFill>
                <a:latin typeface="Consolas"/>
              </a:defRPr>
            </a:pPr>
            <a:r>
              <a:t>    self.K = K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1100">
                <a:solidFill>
                  <a:srgbClr val="DCFCE7"/>
                </a:solidFill>
                <a:latin typeface="Consolas"/>
              </a:defRPr>
            </a:pPr>
            <a:r>
              <a:t>    self.root = Node(None)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1100">
                <a:solidFill>
                  <a:srgbClr val="DCFCE7"/>
                </a:solidFill>
                <a:latin typeface="Consolas"/>
              </a:defRPr>
            </a:pPr>
          </a:p>
          <a:p>
            <a:pPr>
              <a:lnSpc>
                <a:spcPct val="100000"/>
              </a:lnSpc>
              <a:spcAft>
                <a:spcPts val="0"/>
              </a:spcAft>
              <a:defRPr sz="1100">
                <a:solidFill>
                  <a:srgbClr val="DCFCE7"/>
                </a:solidFill>
                <a:latin typeface="Consolas"/>
              </a:defRPr>
            </a:pPr>
            <a:r>
              <a:t>  def insert(self, key):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1100">
                <a:solidFill>
                  <a:srgbClr val="DCFCE7"/>
                </a:solidFill>
                <a:latin typeface="Consolas"/>
              </a:defRPr>
            </a:pPr>
            <a:r>
              <a:t>    self.root = self._insert(self.root, key)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1100">
                <a:solidFill>
                  <a:srgbClr val="DCFCE7"/>
                </a:solidFill>
                <a:latin typeface="Consolas"/>
              </a:defRPr>
            </a:pPr>
          </a:p>
          <a:p>
            <a:pPr>
              <a:lnSpc>
                <a:spcPct val="100000"/>
              </a:lnSpc>
              <a:spcAft>
                <a:spcPts val="0"/>
              </a:spcAft>
              <a:defRPr sz="1100">
                <a:solidFill>
                  <a:srgbClr val="DCFCE7"/>
                </a:solidFill>
                <a:latin typeface="Consolas"/>
              </a:defRPr>
            </a:pPr>
            <a:r>
              <a:t>  def _insert(self, node, key):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1100">
                <a:solidFill>
                  <a:srgbClr val="DCFCE7"/>
                </a:solidFill>
                <a:latin typeface="Consolas"/>
              </a:defRPr>
            </a:pPr>
            <a:r>
              <a:t>    if node is None: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1100">
                <a:solidFill>
                  <a:srgbClr val="DCFCE7"/>
                </a:solidFill>
                <a:latin typeface="Consolas"/>
              </a:defRPr>
            </a:pPr>
            <a:r>
              <a:t>      return Node(key)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1100">
                <a:solidFill>
                  <a:srgbClr val="DCFCE7"/>
                </a:solidFill>
                <a:latin typeface="Consolas"/>
              </a:defRPr>
            </a:pPr>
          </a:p>
          <a:p>
            <a:pPr>
              <a:lnSpc>
                <a:spcPct val="100000"/>
              </a:lnSpc>
              <a:spcAft>
                <a:spcPts val="0"/>
              </a:spcAft>
              <a:defRPr sz="1100">
                <a:solidFill>
                  <a:srgbClr val="DCFCE7"/>
                </a:solidFill>
                <a:latin typeface="Consolas"/>
              </a:defRPr>
            </a:pPr>
            <a:r>
              <a:t>    if len(node.children) == 2 * self.K - 1: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1100">
                <a:solidFill>
                  <a:srgbClr val="DCFCE7"/>
                </a:solidFill>
                <a:latin typeface="Consolas"/>
              </a:defRPr>
            </a:pPr>
            <a:r>
              <a:t>      temp = Node(None)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1100">
                <a:solidFill>
                  <a:srgbClr val="DCFCE7"/>
                </a:solidFill>
                <a:latin typeface="Consolas"/>
              </a:defRPr>
            </a:pPr>
            <a:r>
              <a:t>      node.children.insert(0, temp)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1100">
                <a:solidFill>
                  <a:srgbClr val="DCFCE7"/>
                </a:solidFill>
                <a:latin typeface="Consolas"/>
              </a:defRPr>
            </a:pPr>
            <a:r>
              <a:t>      self._split_child(node, 0)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1100">
                <a:solidFill>
                  <a:srgbClr val="DCFCE7"/>
                </a:solidFill>
                <a:latin typeface="Consolas"/>
              </a:defRPr>
            </a:pPr>
            <a:r>
              <a:t>      return self._insert_child(node, temp, key)...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595360" y="502920"/>
            <a:ext cx="2743200" cy="411480"/>
          </a:xfrm>
          <a:prstGeom prst="round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300">
                <a:solidFill>
                  <a:srgbClr val="166534"/>
                </a:solidFill>
                <a:latin typeface="Calibri"/>
              </a:defRPr>
            </a:pPr>
            <a:r>
              <a:t>Sorting Algorithms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400">
                <a:solidFill>
                  <a:srgbClr val="14532D"/>
                </a:solidFill>
                <a:latin typeface="Calibri"/>
              </a:defRPr>
            </a:pPr>
            <a:r>
              <a:t>Sorting Algorithms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1042416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  <a:defRPr sz="2400">
                <a:solidFill>
                  <a:srgbClr val="166534"/>
                </a:solidFill>
                <a:latin typeface="Calibri"/>
              </a:defRPr>
            </a:pPr>
            <a:r>
              <a:t>- Sorting algorithms rearrange elements in a list to satisfy a specific order (e.g., ascending or descending).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2400">
                <a:solidFill>
                  <a:srgbClr val="166534"/>
                </a:solidFill>
                <a:latin typeface="Calibri"/>
              </a:defRPr>
            </a:pPr>
            <a:r>
              <a:t>- Common sorting algorithms include Bubble Sort, Selection Sort, Insertion Sort, Merge Sort, and Quick Sort.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2400">
                <a:solidFill>
                  <a:srgbClr val="166534"/>
                </a:solidFill>
                <a:latin typeface="Calibri"/>
              </a:defRPr>
            </a:pPr>
            <a:r>
              <a:t>- Each algorithm has its strengths and weaknesses, making some more suitable for specific use cases.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595360" y="502920"/>
            <a:ext cx="2743200" cy="411480"/>
          </a:xfrm>
          <a:prstGeom prst="round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300">
                <a:solidFill>
                  <a:srgbClr val="166534"/>
                </a:solidFill>
                <a:latin typeface="Calibri"/>
              </a:defRPr>
            </a:pPr>
            <a:r>
              <a:t>Sorting Algorithms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400">
                <a:solidFill>
                  <a:srgbClr val="14532D"/>
                </a:solidFill>
                <a:latin typeface="Calibri"/>
              </a:defRPr>
            </a:pPr>
            <a:r>
              <a:t>Time Complexity of Sorting Algorithms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1042416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  <a:defRPr sz="2400">
                <a:solidFill>
                  <a:srgbClr val="166534"/>
                </a:solidFill>
                <a:latin typeface="Calibri"/>
              </a:defRPr>
            </a:pPr>
            <a:r>
              <a:t>- Bubble Sort: O(n^2) in the worst case, making it inefficient for large datasets.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2400">
                <a:solidFill>
                  <a:srgbClr val="166534"/>
                </a:solidFill>
                <a:latin typeface="Calibri"/>
              </a:defRPr>
            </a:pPr>
            <a:r>
              <a:t>- Selection Sort: O(n^2) in the worst case, similar to Bubble Sort.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2400">
                <a:solidFill>
                  <a:srgbClr val="166534"/>
                </a:solidFill>
                <a:latin typeface="Calibri"/>
              </a:defRPr>
            </a:pPr>
            <a:r>
              <a:t>- Insertion Sort: O(n^2) in the worst case, but O(n) on average for nearly sorted lists.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2400">
                <a:solidFill>
                  <a:srgbClr val="166534"/>
                </a:solidFill>
                <a:latin typeface="Calibri"/>
              </a:defRPr>
            </a:pPr>
            <a:r>
              <a:t>- Merge Sort and Quick Sort: O(n log n) on average, making them suitable for large datasets.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595360" y="502920"/>
            <a:ext cx="2743200" cy="411480"/>
          </a:xfrm>
          <a:prstGeom prst="round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300">
                <a:solidFill>
                  <a:srgbClr val="166534"/>
                </a:solidFill>
                <a:latin typeface="Calibri"/>
              </a:defRPr>
            </a:pPr>
            <a:r>
              <a:t>Sorting Algorithms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400">
                <a:solidFill>
                  <a:srgbClr val="14532D"/>
                </a:solidFill>
                <a:latin typeface="Calibri"/>
              </a:defRPr>
            </a:pPr>
            <a:r>
              <a:t>Space Complexity of Sorting Algorithms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1042416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  <a:defRPr sz="2400">
                <a:solidFill>
                  <a:srgbClr val="166534"/>
                </a:solidFill>
                <a:latin typeface="Calibri"/>
              </a:defRPr>
            </a:pPr>
            <a:r>
              <a:t>- Bubble Sort, Selection Sort, and Insertion Sort: O(1) space complexity, as they only use a constant amount of extra memory.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2400">
                <a:solidFill>
                  <a:srgbClr val="166534"/>
                </a:solidFill>
                <a:latin typeface="Calibri"/>
              </a:defRPr>
            </a:pPr>
            <a:r>
              <a:t>- Merge Sort and Quick Sort: O(n) space complexity in the worst case, due to the need to store temporary results.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2400">
                <a:solidFill>
                  <a:srgbClr val="166534"/>
                </a:solidFill>
                <a:latin typeface="Calibri"/>
              </a:defRPr>
            </a:pPr>
            <a:r>
              <a:t>- In-place sorting algorithms like Insertion Sort can be more memory-efficient for small datasets.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595360" y="502920"/>
            <a:ext cx="2743200" cy="411480"/>
          </a:xfrm>
          <a:prstGeom prst="round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300">
                <a:solidFill>
                  <a:srgbClr val="166534"/>
                </a:solidFill>
                <a:latin typeface="Calibri"/>
              </a:defRPr>
            </a:pPr>
            <a:r>
              <a:t>Searching Algorithms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400">
                <a:solidFill>
                  <a:srgbClr val="14532D"/>
                </a:solidFill>
                <a:latin typeface="Calibri"/>
              </a:defRPr>
            </a:pPr>
            <a:r>
              <a:t>Introduction to Searching Algorithms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1042416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  <a:defRPr sz="2400">
                <a:solidFill>
                  <a:srgbClr val="166534"/>
                </a:solidFill>
                <a:latin typeface="Calibri"/>
              </a:defRPr>
            </a:pPr>
            <a:r>
              <a:t>- Searching algorithms are used to find a specific element in a data set.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2400">
                <a:solidFill>
                  <a:srgbClr val="166534"/>
                </a:solidFill>
                <a:latin typeface="Calibri"/>
              </a:defRPr>
            </a:pPr>
            <a:r>
              <a:t>- They are essential in various applications, including databases, web search engines, and file systems.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2400">
                <a:solidFill>
                  <a:srgbClr val="166534"/>
                </a:solidFill>
                <a:latin typeface="Calibri"/>
              </a:defRPr>
            </a:pPr>
            <a:r>
              <a:t>- Two popular searching algorithms are Linear Search and Binary Search.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595360" y="502920"/>
            <a:ext cx="2743200" cy="411480"/>
          </a:xfrm>
          <a:prstGeom prst="round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300">
                <a:solidFill>
                  <a:srgbClr val="166534"/>
                </a:solidFill>
                <a:latin typeface="Calibri"/>
              </a:defRPr>
            </a:pPr>
            <a:r>
              <a:t>Searching Algorithms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400">
                <a:solidFill>
                  <a:srgbClr val="14532D"/>
                </a:solidFill>
                <a:latin typeface="Calibri"/>
              </a:defRPr>
            </a:pPr>
            <a:r>
              <a:t>Linear Search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539496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  <a:defRPr sz="2200">
                <a:solidFill>
                  <a:srgbClr val="166534"/>
                </a:solidFill>
                <a:latin typeface="Calibri"/>
              </a:defRPr>
            </a:pPr>
            <a:r>
              <a:t>- Linear Search compares each element in the data set with the target element.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2200">
                <a:solidFill>
                  <a:srgbClr val="166534"/>
                </a:solidFill>
                <a:latin typeface="Calibri"/>
              </a:defRPr>
            </a:pPr>
            <a:r>
              <a:t>- It has a time complexity of O(n), where n is the number of elements in the data set.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2200">
                <a:solidFill>
                  <a:srgbClr val="166534"/>
                </a:solidFill>
                <a:latin typeface="Calibri"/>
              </a:defRPr>
            </a:pPr>
            <a:r>
              <a:t>- Linear Search is simple to implement but can be slow for large data sets.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572768"/>
            <a:ext cx="5230368" cy="4800600"/>
          </a:xfrm>
          <a:prstGeom prst="round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55080" y="1682496"/>
            <a:ext cx="491032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DCFCE7"/>
                </a:solidFill>
                <a:latin typeface="Calibri"/>
              </a:defRPr>
            </a:pPr>
            <a:r>
              <a:t>Code (python)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5080" y="2075688"/>
            <a:ext cx="4910328" cy="41239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1300">
                <a:solidFill>
                  <a:srgbClr val="DCFCE7"/>
                </a:solidFill>
                <a:latin typeface="Consolas"/>
              </a:defRPr>
            </a:pPr>
            <a:r>
              <a:t>def linear_search(arr, target):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1300">
                <a:solidFill>
                  <a:srgbClr val="DCFCE7"/>
                </a:solidFill>
                <a:latin typeface="Consolas"/>
              </a:defRPr>
            </a:pPr>
            <a:r>
              <a:t>  for i in range(len(arr)):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1300">
                <a:solidFill>
                  <a:srgbClr val="DCFCE7"/>
                </a:solidFill>
                <a:latin typeface="Consolas"/>
              </a:defRPr>
            </a:pPr>
            <a:r>
              <a:t>    if arr[i] == target: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1300">
                <a:solidFill>
                  <a:srgbClr val="DCFCE7"/>
                </a:solidFill>
                <a:latin typeface="Consolas"/>
              </a:defRPr>
            </a:pPr>
            <a:r>
              <a:t>      return i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1300">
                <a:solidFill>
                  <a:srgbClr val="DCFCE7"/>
                </a:solidFill>
                <a:latin typeface="Consolas"/>
              </a:defRPr>
            </a:pPr>
            <a:r>
              <a:t>  return -1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1300">
                <a:solidFill>
                  <a:srgbClr val="DCFCE7"/>
                </a:solidFill>
                <a:latin typeface="Consolas"/>
              </a:defRPr>
            </a:pPr>
          </a:p>
          <a:p>
            <a:pPr>
              <a:lnSpc>
                <a:spcPct val="100000"/>
              </a:lnSpc>
              <a:spcAft>
                <a:spcPts val="0"/>
              </a:spcAft>
              <a:defRPr sz="1300">
                <a:solidFill>
                  <a:srgbClr val="DCFCE7"/>
                </a:solidFill>
                <a:latin typeface="Consolas"/>
              </a:defRPr>
            </a:pPr>
            <a:r>
              <a:t>arr = [3, 5, 2, 7, 9]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1300">
                <a:solidFill>
                  <a:srgbClr val="DCFCE7"/>
                </a:solidFill>
                <a:latin typeface="Consolas"/>
              </a:defRPr>
            </a:pPr>
            <a:r>
              <a:t>target = 5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1300">
                <a:solidFill>
                  <a:srgbClr val="DCFCE7"/>
                </a:solidFill>
                <a:latin typeface="Consolas"/>
              </a:defRPr>
            </a:pPr>
            <a:r>
              <a:t>result = linear_search(arr, target)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1300">
                <a:solidFill>
                  <a:srgbClr val="DCFCE7"/>
                </a:solidFill>
                <a:latin typeface="Consolas"/>
              </a:defRPr>
            </a:pPr>
            <a:r>
              <a:t>print(result)  # Output: 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595360" y="502920"/>
            <a:ext cx="2743200" cy="411480"/>
          </a:xfrm>
          <a:prstGeom prst="round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300">
                <a:solidFill>
                  <a:srgbClr val="166534"/>
                </a:solidFill>
                <a:latin typeface="Calibri"/>
              </a:defRPr>
            </a:pPr>
            <a:r>
              <a:t>Searching Algorithms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400">
                <a:solidFill>
                  <a:srgbClr val="14532D"/>
                </a:solidFill>
                <a:latin typeface="Calibri"/>
              </a:defRPr>
            </a:pPr>
            <a:r>
              <a:t>Binary Search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539496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  <a:defRPr sz="2200">
                <a:solidFill>
                  <a:srgbClr val="166534"/>
                </a:solidFill>
                <a:latin typeface="Calibri"/>
              </a:defRPr>
            </a:pPr>
            <a:r>
              <a:t>- Binary Search divides the data set in half and compares the target element with the middle element.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2200">
                <a:solidFill>
                  <a:srgbClr val="166534"/>
                </a:solidFill>
                <a:latin typeface="Calibri"/>
              </a:defRPr>
            </a:pPr>
            <a:r>
              <a:t>- It has a time complexity of O(log n), making it much faster than Linear Search for large data sets.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2200">
                <a:solidFill>
                  <a:srgbClr val="166534"/>
                </a:solidFill>
                <a:latin typeface="Calibri"/>
              </a:defRPr>
            </a:pPr>
            <a:r>
              <a:t>- Binary Search requires the data set to be sorted.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572768"/>
            <a:ext cx="5230368" cy="4800600"/>
          </a:xfrm>
          <a:prstGeom prst="round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55080" y="1682496"/>
            <a:ext cx="491032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DCFCE7"/>
                </a:solidFill>
                <a:latin typeface="Calibri"/>
              </a:defRPr>
            </a:pPr>
            <a:r>
              <a:t>Code (python)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5080" y="2075688"/>
            <a:ext cx="4910328" cy="41239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1200">
                <a:solidFill>
                  <a:srgbClr val="DCFCE7"/>
                </a:solidFill>
                <a:latin typeface="Consolas"/>
              </a:defRPr>
            </a:pPr>
            <a:r>
              <a:t>def binary_search(arr, target):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1200">
                <a:solidFill>
                  <a:srgbClr val="DCFCE7"/>
                </a:solidFill>
                <a:latin typeface="Consolas"/>
              </a:defRPr>
            </a:pPr>
            <a:r>
              <a:t>  low = 0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1200">
                <a:solidFill>
                  <a:srgbClr val="DCFCE7"/>
                </a:solidFill>
                <a:latin typeface="Consolas"/>
              </a:defRPr>
            </a:pPr>
            <a:r>
              <a:t>  high = len(arr) - 1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1200">
                <a:solidFill>
                  <a:srgbClr val="DCFCE7"/>
                </a:solidFill>
                <a:latin typeface="Consolas"/>
              </a:defRPr>
            </a:pPr>
            <a:r>
              <a:t>  while low &lt;= high: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1200">
                <a:solidFill>
                  <a:srgbClr val="DCFCE7"/>
                </a:solidFill>
                <a:latin typeface="Consolas"/>
              </a:defRPr>
            </a:pPr>
            <a:r>
              <a:t>    mid = (low + high) // 2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1200">
                <a:solidFill>
                  <a:srgbClr val="DCFCE7"/>
                </a:solidFill>
                <a:latin typeface="Consolas"/>
              </a:defRPr>
            </a:pPr>
            <a:r>
              <a:t>    if arr[mid] == target: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1200">
                <a:solidFill>
                  <a:srgbClr val="DCFCE7"/>
                </a:solidFill>
                <a:latin typeface="Consolas"/>
              </a:defRPr>
            </a:pPr>
            <a:r>
              <a:t>      return mid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1200">
                <a:solidFill>
                  <a:srgbClr val="DCFCE7"/>
                </a:solidFill>
                <a:latin typeface="Consolas"/>
              </a:defRPr>
            </a:pPr>
            <a:r>
              <a:t>    elif arr[mid] &lt; target: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1200">
                <a:solidFill>
                  <a:srgbClr val="DCFCE7"/>
                </a:solidFill>
                <a:latin typeface="Consolas"/>
              </a:defRPr>
            </a:pPr>
            <a:r>
              <a:t>      low = mid + 1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1200">
                <a:solidFill>
                  <a:srgbClr val="DCFCE7"/>
                </a:solidFill>
                <a:latin typeface="Consolas"/>
              </a:defRPr>
            </a:pPr>
            <a:r>
              <a:t>    else: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1200">
                <a:solidFill>
                  <a:srgbClr val="DCFCE7"/>
                </a:solidFill>
                <a:latin typeface="Consolas"/>
              </a:defRPr>
            </a:pPr>
            <a:r>
              <a:t>      high = mid - 1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1200">
                <a:solidFill>
                  <a:srgbClr val="DCFCE7"/>
                </a:solidFill>
                <a:latin typeface="Consolas"/>
              </a:defRPr>
            </a:pPr>
            <a:r>
              <a:t>  return -1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1200">
                <a:solidFill>
                  <a:srgbClr val="DCFCE7"/>
                </a:solidFill>
                <a:latin typeface="Consolas"/>
              </a:defRPr>
            </a:pPr>
          </a:p>
          <a:p>
            <a:pPr>
              <a:lnSpc>
                <a:spcPct val="100000"/>
              </a:lnSpc>
              <a:spcAft>
                <a:spcPts val="0"/>
              </a:spcAft>
              <a:defRPr sz="1200">
                <a:solidFill>
                  <a:srgbClr val="DCFCE7"/>
                </a:solidFill>
                <a:latin typeface="Consolas"/>
              </a:defRPr>
            </a:pPr>
            <a:r>
              <a:t>arr = [1, 2, 3, 4, 5, 6, 7, 8, 9]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1200">
                <a:solidFill>
                  <a:srgbClr val="DCFCE7"/>
                </a:solidFill>
                <a:latin typeface="Consolas"/>
              </a:defRPr>
            </a:pPr>
            <a:r>
              <a:t>target = 5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1200">
                <a:solidFill>
                  <a:srgbClr val="DCFCE7"/>
                </a:solidFill>
                <a:latin typeface="Consolas"/>
              </a:defRPr>
            </a:pPr>
            <a:r>
              <a:t>result = binary_search(arr, target)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1200">
                <a:solidFill>
                  <a:srgbClr val="DCFCE7"/>
                </a:solidFill>
                <a:latin typeface="Consolas"/>
              </a:defRPr>
            </a:pPr>
            <a:r>
              <a:t>print(result)  # Output: 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595360" y="502920"/>
            <a:ext cx="2743200" cy="411480"/>
          </a:xfrm>
          <a:prstGeom prst="round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300">
                <a:solidFill>
                  <a:srgbClr val="166534"/>
                </a:solidFill>
                <a:latin typeface="Calibri"/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400">
                <a:solidFill>
                  <a:srgbClr val="14532D"/>
                </a:solidFill>
                <a:latin typeface="Calibri"/>
              </a:defRPr>
            </a:pPr>
            <a:r>
              <a:t>Summary and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1042416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  <a:defRPr sz="2400">
                <a:solidFill>
                  <a:srgbClr val="166534"/>
                </a:solidFill>
                <a:latin typeface="Calibri"/>
              </a:defRPr>
            </a:pPr>
            <a:r>
              <a:t>- Recap of 7 major areas in Data Structure and Algorithm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2400">
                <a:solidFill>
                  <a:srgbClr val="166534"/>
                </a:solidFill>
                <a:latin typeface="Calibri"/>
              </a:defRPr>
            </a:pPr>
            <a:r>
              <a:t>- Key takeaways to retain for implementation and decision-making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2400">
                <a:solidFill>
                  <a:srgbClr val="166534"/>
                </a:solidFill>
                <a:latin typeface="Calibri"/>
              </a:defRPr>
            </a:pPr>
            <a:r>
              <a:t>- Suggested path for deeper study and practical application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